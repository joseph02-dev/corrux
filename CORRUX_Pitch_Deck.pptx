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Revenus vs Résultat net (M GNF)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revenus</c:v>
                </c:pt>
              </c:strCache>
            </c:strRef>
          </c:tx>
          <c:spPr>
            <a:solidFill>
              <a:srgbClr val="2E6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Année 1</c:v>
                  </c:pt>
                  <c:pt idx="1">
                    <c:v>Année 2</c:v>
                  </c:pt>
                  <c:pt idx="2">
                    <c:v>Année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249.5</c:v>
                </c:pt>
                <c:pt idx="2">
                  <c:v>727.5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Résultat net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Année 1</c:v>
                  </c:pt>
                  <c:pt idx="1">
                    <c:v>Année 2</c:v>
                  </c:pt>
                  <c:pt idx="2">
                    <c:v>Année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-61</c:v>
                </c:pt>
                <c:pt idx="1">
                  <c:v>54.5</c:v>
                </c:pt>
                <c:pt idx="2">
                  <c:v>437.5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des fonds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FF2"/>
              </a:solidFill>
              <a:effectLst/>
            </c:spPr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</c:dPt>
          <c:dPt>
            <c:idx val="2"/>
            <c:bubble3D val="0"/>
            <c:spPr>
              <a:solidFill>
                <a:srgbClr val="6FA8FF"/>
              </a:solidFill>
              <a:effectLst/>
            </c:spPr>
          </c:dPt>
          <c:dPt>
            <c:idx val="3"/>
            <c:bubble3D val="0"/>
            <c:spPr>
              <a:solidFill>
                <a:srgbClr val="F7C77E"/>
              </a:solidFill>
              <a:effectLst/>
            </c:spPr>
          </c:dPt>
          <c:dPt>
            <c:idx val="4"/>
            <c:bubble3D val="0"/>
            <c:spPr>
              <a:solidFill>
                <a:srgbClr val="9FD1D6"/>
              </a:solidFill>
              <a:effectLst/>
            </c:spPr>
          </c:dPt>
          <c:dPt>
            <c:idx val="5"/>
            <c:bubble3D val="0"/>
            <c:spPr>
              <a:solidFill>
                <a:srgbClr val="8894A6"/>
              </a:solidFill>
              <a:effectLst/>
            </c:spPr>
          </c:dPt>
          <c:dPt>
            <c:idx val="6"/>
            <c:bubble3D val="0"/>
            <c:spPr>
              <a:solidFill>
                <a:srgbClr val="3C5A82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Dév. produit</c:v>
                </c:pt>
                <c:pt idx="1">
                  <c:v>Équipe</c:v>
                </c:pt>
                <c:pt idx="2">
                  <c:v>Fonds de roulement réseau</c:v>
                </c:pt>
                <c:pt idx="3">
                  <c:v>Équipement pilotes</c:v>
                </c:pt>
                <c:pt idx="4">
                  <c:v>Commercialisation</c:v>
                </c:pt>
                <c:pt idx="5">
                  <c:v>Juridique</c:v>
                </c:pt>
                <c:pt idx="6">
                  <c:v>Réserve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0A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CORRUX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d'information souverain des PME/TPE d'Afrique de l'Ouest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114800"/>
            <a:ext cx="128016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394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Sagno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de projet — Conakry / Nzérékoré, Guinée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sagnojoseph02@gmail.com  ·  +224 610 324 525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PME/TPE guinéennes font face à des obstacles convergents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76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7276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documentaire : papier, clés USB, mails, dossiers non structurés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03704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76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7627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RH informelle : tableurs ou papier, non centralisée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76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77977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des outils cloud facturés en devises fortes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76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3832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fréquente de réseau informatique local (switch, câblage)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76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8678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RGE-1 (1er recensement des entreprises) lancé en août 2026 seulement — secteur informel non documenté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35240" y="1554480"/>
            <a:ext cx="3977640" cy="448056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6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26,5 %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taux de pénétration Internet en Guinée (début 2025)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73,5 %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reste hors ligne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709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 M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d'habitants, population majoritairement rurale (61,3 %)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: CORRUX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distribution Linux installée chez le client, pas un SaaS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aux ERP en ligne (SaaS), CORRUX :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S'installe directement chez le client, sur son propre matériel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sans connexion Internet au quotidien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 l'entreprise pleinement propriétaire de ses données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S'étend par modules métier interconnectés (Stock, Facturation, Comptabilité, Paie…)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486400" cy="44348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commune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244144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&amp; comptes centralisés, 100 % locaux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46520" y="300837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28712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fines par rôle et par utilisateur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357530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3438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 fichiers sécurisé et partagé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41422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HTTPS (autorité de certification interne)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7091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locales automatiques et planifiées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527608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5138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à manifeste standardisé, dépendances vérifiées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modules métier de la V1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mécanisme de dépendances qui structure toute l'offre future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4206240" cy="3108960"/>
          </a:xfrm>
          <a:prstGeom prst="rect">
            <a:avLst/>
          </a:prstGeom>
          <a:solidFill>
            <a:srgbClr val="E8EFFD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514600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/ Archivage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2461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Dépôt, organisation, recherche et permissions fines sur les documents de l'entreprise.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3520440"/>
            <a:ext cx="1463040" cy="4572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5780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 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2194560"/>
            <a:ext cx="4206240" cy="31089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9480" y="25146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Humaines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2461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employé, congés/absences, contrats — rattachés au module Documentation plutôt que dupliqués.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5778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module ne peut être installé ou activé si ses dépendances ne le sont pas déjà — garantie qu'aucun module ne tourne dans un état incohérent.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0A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différenciateur clé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prend en charge l'infrastructure réseau, pas seulement le logiciel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2402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nombreuses PME/TPE visées ne disposent pas encore d'un réseau informatique local.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5840" y="3063240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Achat des équipements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60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Switch, routeur/pare-feu, câblage, prises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063240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Câblage &amp; installation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4160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Réalisés par CORRUX ou un partenaire technicien certifié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063240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Facturation séparée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4160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Dimensionnée selon le nombre de postes à raccorder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4864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obstacle d'adoption majeur, levé — plutôt que laissé à la charge du client.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 et opportunité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Guinée comme marché pilote, avant expansion CEDEAO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92024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 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d'habitants en Guinée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14600" cy="192024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26,5 %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pénétration Internet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2514600" cy="192024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61,3 %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560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en zone rurale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1691640"/>
            <a:ext cx="2514600" cy="192024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Août 2026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560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du 1er recensement des entreprises (RGE-1)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31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économique encore largement informel et mal documenté — un contexte favorable à une offre de structuration comme CORRUX.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84632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2E6F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 (pilote)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03320" y="5029200"/>
            <a:ext cx="502920" cy="365760"/>
          </a:xfrm>
          <a:prstGeom prst="rightArrow">
            <a:avLst/>
          </a:prstGeom>
          <a:solidFill>
            <a:srgbClr val="5B6B7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06240" y="484632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0624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 (national)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86600" y="5029200"/>
            <a:ext cx="502920" cy="365760"/>
          </a:xfrm>
          <a:prstGeom prst="rightArrow">
            <a:avLst/>
          </a:prstGeom>
          <a:solidFill>
            <a:srgbClr val="5B6B7F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4846320"/>
            <a:ext cx="2834640" cy="731520"/>
          </a:xfrm>
          <a:prstGeom prst="roundRect">
            <a:avLst>
              <a:gd name="adj" fmla="val 12500"/>
            </a:avLst>
          </a:prstGeom>
          <a:solidFill>
            <a:srgbClr val="F2A9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4846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CEDEAO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concurrentiel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alternative ne couvre le positionnement de CORRUX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0140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2148840"/>
                <a:gridCol w="2148840"/>
                <a:gridCol w="2148840"/>
                <a:gridCol w="1920240"/>
              </a:tblGrid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Éditeurs régionaux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/ papier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Fonctionnement hors ligne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Complexe (auto-hébergé)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communiqué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sans sécurité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Propriété des données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chez le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Souvent externe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Souvent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structuration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réseau prise en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GNF, maîtrisé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Devise forte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Devise forte / projet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coût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locale en Guinée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 (techniciens)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inexistante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0807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se positionne entre l'auto-hébergement complexe (Odoo Community) et le développement sur-mesure coûteux.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unique + maintenance annuelle + service réseau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120640" cy="502920"/>
          </a:xfrm>
          <a:prstGeom prst="rect">
            <a:avLst/>
          </a:prstGeom>
          <a:solidFill>
            <a:srgbClr val="2E6F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 Essentiel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20 utilisateurs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11 500 000 GNF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1 130 € — licence + installation (unique)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: 2 300 000 GNF/an (≈ 225 €)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691640"/>
            <a:ext cx="5120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691640"/>
            <a:ext cx="5120640" cy="50292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 Croissance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à 50 utilisateurs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7432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18 500 000 GNF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1 815 € — licence + installation (unique)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: 3 700 000 GNF/an (≈ 363 €)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881360" cy="12344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5257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Service de mise en réseau (nouvelle ligne de revenu)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5 000 000 GNF (≈ 490 €) pour 1 à 10 postes, jusqu'à 28 000 000 GNF (≈ 2 750 €) pour 26 à 50 postes — équipement + installation.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mise sur le marché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de techniciens partenaires, pas une force de vente coûteuse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84048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pilote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Conakry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installations à tarif préférentiel — Orange Digital Center, Guinée Startup Challenge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566160"/>
            <a:ext cx="457200" cy="365760"/>
          </a:xfrm>
          <a:prstGeom prst="rightArrow">
            <a:avLst/>
          </a:prstGeom>
          <a:solidFill>
            <a:srgbClr val="5B6B7F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828800"/>
            <a:ext cx="3429000" cy="3840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21488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788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de lancement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200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Guinée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6118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via le réseau de techniciens partenaires — Conakry et villes secondaires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3566160"/>
            <a:ext cx="457200" cy="365760"/>
          </a:xfrm>
          <a:prstGeom prst="rightArrow">
            <a:avLst/>
          </a:prstGeom>
          <a:solidFill>
            <a:srgbClr val="5B6B7F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1828800"/>
            <a:ext cx="3429000" cy="384048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2520" y="2148840"/>
            <a:ext cx="502920" cy="50292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32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788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d'expansion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200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de l'Ouest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361188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du modèle dans un second pays CEDEAO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produit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jalons sur 10 mois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3566160"/>
            <a:ext cx="10332720" cy="0"/>
          </a:xfrm>
          <a:prstGeom prst="line">
            <a:avLst/>
          </a:prstGeom>
          <a:noFill/>
          <a:ln w="38100">
            <a:solidFill>
              <a:srgbClr val="C7D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3401568"/>
            <a:ext cx="329184" cy="329184"/>
          </a:xfrm>
          <a:prstGeom prst="ellipse">
            <a:avLst/>
          </a:prstGeom>
          <a:solidFill>
            <a:srgbClr val="2E6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1737360"/>
            <a:ext cx="2423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74320" y="18470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· Mois 1-3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2194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commune opérationnelle (identité, permissions, stockage, HTTPS, sauvegardes)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3401568"/>
            <a:ext cx="329184" cy="329184"/>
          </a:xfrm>
          <a:prstGeom prst="ellipse">
            <a:avLst/>
          </a:prstGeom>
          <a:solidFill>
            <a:srgbClr val="2E6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3977640"/>
            <a:ext cx="2423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4087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 · Mois 4-6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4434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modules + module Documentation/Archivage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401568"/>
            <a:ext cx="329184" cy="329184"/>
          </a:xfrm>
          <a:prstGeom prst="ellipse">
            <a:avLst/>
          </a:prstGeom>
          <a:solidFill>
            <a:srgbClr val="2E6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737360"/>
            <a:ext cx="2423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486400" y="18470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· Mois 7-8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1945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RH intégré à Documentation, tests de bout en bout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3401568"/>
            <a:ext cx="329184" cy="329184"/>
          </a:xfrm>
          <a:prstGeom prst="ellipse">
            <a:avLst/>
          </a:prstGeom>
          <a:solidFill>
            <a:srgbClr val="2E6F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3977640"/>
            <a:ext cx="2423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888888">
                <a:alpha val="2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92440" y="4087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 · Mois 9-10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4434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Packaging, installateur technicien, premières installations pilotes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Projections financières (3 ans)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Rentable dès l'année 2 — montants en millions de GNF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23360" cy="4114800"/>
          </a:xfrm>
          <a:prstGeom prst="rect">
            <a:avLst/>
          </a:prstGeom>
          <a:solidFill>
            <a:srgbClr val="F6F9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CUMULÉS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258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→ 25 → 75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RENTABILITÉ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4472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Dès l'année 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 AN 3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6360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+437,5 M GNF (≈ 42 930 €)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A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Demande de financement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100 000 000 GNF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9 815 € — pour couvrir 12 à 18 mois (finalisation V1, installations pilotes, démarrage commercial)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8803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2880360"/>
            <a:ext cx="5212080" cy="3291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294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611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Sagno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Porteur de projet CORRUX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sagnojoseph02@gmail.com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+224 610 324 525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Conakry / Nzérékoré, Guinée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CORRUX — Confidentiel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2026-09-06T15:37:50Z</dcterms:created>
  <dcterms:modified xsi:type="dcterms:W3CDTF">2026-09-06T15:37:50Z</dcterms:modified>
</cp:coreProperties>
</file>